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-296" y="-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C86246-0218-4C10-838D-8A618BAEECB1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F94D44-ADC4-49CB-BF39-47666AFBA04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 (0:00 - 0:15 | 15s)</a:t>
            </a:r>
          </a:p>
          <a:p>
            <a:r>
              <a:t>Talking Points:</a:t>
            </a:r>
          </a:p>
          <a:p>
            <a:r>
              <a:t>• Good morning/afternoon everyone. We are Team 2 presenting our project: The Digital Subsidy &amp; Grant Administration Platform (DSGA).</a:t>
            </a:r>
          </a:p>
          <a:p>
            <a:r>
              <a:t>• Built under the Infosys Springboard Internship 7.0 Batch-2, DSGA is an enterprise-grade Direct Benefit Transfer e-governance system designed to make subsidy management secure, transparent, paperless, and citizen-centric.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2 (0:15 - 0:50 | 35s)</a:t>
            </a:r>
          </a:p>
          <a:p>
            <a:r>
              <a:t>Talking Points:</a:t>
            </a:r>
          </a:p>
          <a:p>
            <a:r>
              <a:t>• Traditional subsidy administration faces 6 critical challenges:</a:t>
            </a:r>
          </a:p>
          <a:p>
            <a:r>
              <a:t>1. Paper forms that create severe processing delays;</a:t>
            </a:r>
          </a:p>
          <a:p>
            <a:r>
              <a:t>2. Lack of transparency that causes subsidy leakages;</a:t>
            </a:r>
          </a:p>
          <a:p>
            <a:r>
              <a:t>3. Physical document checks prone to fraud and duplicates;</a:t>
            </a:r>
          </a:p>
          <a:p>
            <a:r>
              <a:t>4. No real-time status updates for citizens;</a:t>
            </a:r>
          </a:p>
          <a:p>
            <a:r>
              <a:t>5. Delayed manual disbursements rather than direct treasury transfers;</a:t>
            </a:r>
          </a:p>
          <a:p>
            <a:r>
              <a:t>6. Incomplete audit logs hindering grievance redressal.</a:t>
            </a:r>
          </a:p>
          <a:p>
            <a:r>
              <a:t>• DSGA was engineered specifically to eliminate these bottlenecks.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3 (0:50 - 1:25 | 35s)</a:t>
            </a:r>
          </a:p>
          <a:p>
            <a:r>
              <a:t>Talking Points:</a:t>
            </a:r>
          </a:p>
          <a:p>
            <a:r>
              <a:t>• DSGA provides a centralized hub-and-spoke solution uniting five core pillars:</a:t>
            </a:r>
          </a:p>
          <a:p>
            <a:r>
              <a:t>1. Online Citizen Applications with automated validation;</a:t>
            </a:r>
          </a:p>
          <a:p>
            <a:r>
              <a:t>2. Multi-Role Approvals establishing clear separation between verifiers, officers, and sanctioners;</a:t>
            </a:r>
          </a:p>
          <a:p>
            <a:r>
              <a:t>3. Robust REST APIs powering every interaction;</a:t>
            </a:r>
          </a:p>
          <a:p>
            <a:r>
              <a:t>4. Dual-Mode Offline Sync ensuring remote field verifiers can record data even without active internet;</a:t>
            </a:r>
          </a:p>
          <a:p>
            <a:r>
              <a:t>5. Enterprise JWT + RBAC security protecting sensitive citizen data.</a:t>
            </a:r>
          </a:p>
          <a:p>
            <a:r>
              <a:t>• All built on modern Java 17, Spring Boot 3, React 19, and MySQL.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4 (1:25 - 1:55 | 30s)</a:t>
            </a:r>
          </a:p>
          <a:p>
            <a:r>
              <a:t>Talking Points:</a:t>
            </a:r>
          </a:p>
          <a:p>
            <a:r>
              <a:t>• Our engineering stack is strictly divided into 4 clean layers:</a:t>
            </a:r>
          </a:p>
          <a:p>
            <a:r>
              <a:t>1. Frontend: React 19 and Vite 8 for instant load times, Tailwind CSS for design consistency, and Recharts for analytics;</a:t>
            </a:r>
          </a:p>
          <a:p>
            <a:r>
              <a:t>2. Backend: Java 17 and Spring Boot 3.2 delivering high-performance REST microservices;</a:t>
            </a:r>
          </a:p>
          <a:p>
            <a:r>
              <a:t>3. Security: Spring Security and stateless JWT token authentication with RBAC;</a:t>
            </a:r>
          </a:p>
          <a:p>
            <a:r>
              <a:t>4. Data &amp; API: Spring Data JPA with Hibernate, running seamlessly on MySQL production and H2 in-memory, fully verified via Swagger and Postman.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5 (1:55 - 2:35 | 40s)</a:t>
            </a:r>
          </a:p>
          <a:p>
            <a:r>
              <a:t>Talking Points:</a:t>
            </a:r>
          </a:p>
          <a:p>
            <a:r>
              <a:t>• Here is our complete System Architecture. It follows the enterprise 5-tier pipeline:</a:t>
            </a:r>
          </a:p>
          <a:p>
            <a:r>
              <a:t>1. Client Tier: React frontend and Postman API suite;</a:t>
            </a:r>
          </a:p>
          <a:p>
            <a:r>
              <a:t>2. REST API Gateway: Receives requests, handles JWT authentication filters and parameter sanitation;</a:t>
            </a:r>
          </a:p>
          <a:p>
            <a:r>
              <a:t>3. Service Layer: Implements core business logic, scheme rules, and role validation;</a:t>
            </a:r>
          </a:p>
          <a:p>
            <a:r>
              <a:t>4. Repository Layer: Spring Data JPA manages ORM abstractions and transactional integrity;</a:t>
            </a:r>
          </a:p>
          <a:p>
            <a:r>
              <a:t>5. Database Tier: Stores schemes, citizen dossiers, grant ledgers, and audit trails.</a:t>
            </a:r>
          </a:p>
          <a:p>
            <a:r>
              <a:t>• This strict separation of concerns guarantees high maintainability and security.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6 (2:35 - 3:10 | 35s)</a:t>
            </a:r>
          </a:p>
          <a:p>
            <a:r>
              <a:t>Talking Points:</a:t>
            </a:r>
          </a:p>
          <a:p>
            <a:r>
              <a:t>• Security and quality assurance are central to DSGA:</a:t>
            </a:r>
          </a:p>
          <a:p>
            <a:r>
              <a:t>• On the left, our stateless JWT Authentication Lifecycle: credentials authenticate via Spring Security, issuing an encrypted JWT with role claims passed in Bearer headers.</a:t>
            </a:r>
          </a:p>
          <a:p>
            <a:r>
              <a:t>• On the right, rigorous Postman API Testing: we verified endpoints for Auth, Schemes, Applications, and Disbursements, validating 200 OK and 201 Created codes and RBAC restrictions.</a:t>
            </a:r>
          </a:p>
          <a:p>
            <a:r>
              <a:t>• This ensures complete end-to-end security from login to payment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7 (3:10 - 4:10 | 60s)</a:t>
            </a:r>
          </a:p>
          <a:p>
            <a:r>
              <a:t>Talking Points:</a:t>
            </a:r>
          </a:p>
          <a:p>
            <a:r>
              <a:t>• This is our primary operational workflow slide, demonstrating how an application travels in 5 clear stages:</a:t>
            </a:r>
          </a:p>
          <a:p>
            <a:r>
              <a:t>1. Citizen Applies: The citizen registers, chooses a scheme, and uploads digital proofs, receiving an instant tracking ID.</a:t>
            </a:r>
          </a:p>
          <a:p>
            <a:r>
              <a:t>2. Field Verification: Field officers inspect proofs online or offline, uploading a geo-tagged verification report.</a:t>
            </a:r>
          </a:p>
          <a:p>
            <a:r>
              <a:t>3. Officer Approval: The approving authority reviews eligibility quotas and signs off.</a:t>
            </a:r>
          </a:p>
          <a:p>
            <a:r>
              <a:t>4. Grant Sanction: The sanctioning officer reserves the required scheme budget and generates the sanction order.</a:t>
            </a:r>
          </a:p>
          <a:p>
            <a:r>
              <a:t>5. PFMS / DBT Credit: The treasury transfers funds directly into the beneficiary's bank account with an automated UTR number.</a:t>
            </a:r>
          </a:p>
          <a:p>
            <a:r>
              <a:t>• A completely paperless journey: Applied, Verified, Approved, Sanctioned, and Disbursed with real-time tracking!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8 (4:10 - 4:45 | 35s)</a:t>
            </a:r>
          </a:p>
          <a:p>
            <a:r>
              <a:t>Talking Points:</a:t>
            </a:r>
          </a:p>
          <a:p>
            <a:r>
              <a:t>• DSGA delivers 6 core strategic advantages:</a:t>
            </a:r>
          </a:p>
          <a:p>
            <a:r>
              <a:t>1. Security: Powered by JWT and granular RBAC;</a:t>
            </a:r>
          </a:p>
          <a:p>
            <a:r>
              <a:t>2. Paperless: A completely digital dossier with zero paper loss;</a:t>
            </a:r>
          </a:p>
          <a:p>
            <a:r>
              <a:t>3. Faster: Automated validation dramatically slashing cycle times;</a:t>
            </a:r>
          </a:p>
          <a:p>
            <a:r>
              <a:t>4. Transparent: Real-time 5-stage tracking keeping citizens informed;</a:t>
            </a:r>
          </a:p>
          <a:p>
            <a:r>
              <a:t>5. Leakage Prevention: Direct Benefit Transfer delivering funds straight to bank accounts;</a:t>
            </a:r>
          </a:p>
          <a:p>
            <a:r>
              <a:t>6. Accountable: Complete immutable audit trails and built-in grievance redressal.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9 (4:45 - 5:00 | 15s)</a:t>
            </a:r>
          </a:p>
          <a:p>
            <a:r>
              <a:t>Talking Points:</a:t>
            </a:r>
          </a:p>
          <a:p>
            <a:r>
              <a:t>• To conclude: DSGA successfully demonstrates modern full-stack engineering, combining Spring Boot 3, React 19, JWT security, and PFMS integration into a unified public administration platform.</a:t>
            </a:r>
          </a:p>
          <a:p>
            <a:r>
              <a:t>• 'From application to disbursement — one transparent digital workflow.'</a:t>
            </a:r>
          </a:p>
          <a:p>
            <a:r>
              <a:t>• Thank you! We are now open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97280" y="868680"/>
            <a:ext cx="9997135" cy="5120640"/>
          </a:xfrm>
          <a:prstGeom prst="roundRect">
            <a:avLst/>
          </a:prstGeom>
          <a:solidFill>
            <a:srgbClr val="131E36"/>
          </a:solidFill>
          <a:ln w="19050">
            <a:solidFill>
              <a:srgbClr val="2535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175150" y="1234440"/>
            <a:ext cx="3840480" cy="384048"/>
          </a:xfrm>
          <a:prstGeom prst="roundRect">
            <a:avLst/>
          </a:prstGeom>
          <a:solidFill>
            <a:srgbClr val="1C2B4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38BDF8"/>
                </a:solidFill>
                <a:latin typeface="Segoe UI"/>
              </a:defRPr>
            </a:pPr>
            <a:r>
              <a:t>🏛️  ENTERPRISE E-GOVERNANCE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874519"/>
            <a:ext cx="926561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Segoe UI"/>
              </a:defRPr>
            </a:pPr>
            <a:r>
              <a:t>Digital Subsidy &amp; Grant</a:t>
            </a:r>
            <a:br/>
            <a:r>
              <a:t>Administration Platform (DSGA)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3383280"/>
            <a:ext cx="889985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2DD4BF"/>
                </a:solidFill>
                <a:latin typeface="Segoe UI"/>
              </a:defRPr>
            </a:pPr>
            <a:r>
              <a:t>🔒 Secure   •   👁️ Transparent   •   📄 Paperless   •   👥 Citizen-Centric</a:t>
            </a:r>
          </a:p>
        </p:txBody>
      </p:sp>
      <p:sp>
        <p:nvSpPr>
          <p:cNvPr id="8" name="Rectangle 7"/>
          <p:cNvSpPr/>
          <p:nvPr/>
        </p:nvSpPr>
        <p:spPr>
          <a:xfrm>
            <a:off x="3352190" y="4023360"/>
            <a:ext cx="5486400" cy="13716"/>
          </a:xfrm>
          <a:prstGeom prst="rect">
            <a:avLst/>
          </a:prstGeom>
          <a:solidFill>
            <a:srgbClr val="2535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800" y="4206240"/>
            <a:ext cx="853409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rPr smtClean="0"/>
              <a:t>Infosys </a:t>
            </a:r>
            <a:r>
              <a:t>Springboard Internship 7.0 Batch-2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75488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CURRENT CHALLENGES  •  SLIDE 2 OF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Problem Statement</a:t>
            </a:r>
          </a:p>
          <a:p>
            <a:pPr>
              <a:spcBef>
                <a:spcPts val="2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Critical bottlenecks and leakages in traditional paper-based subsidy administration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419856" cy="2057400"/>
          </a:xfrm>
          <a:prstGeom prst="roundRect">
            <a:avLst/>
          </a:prstGeom>
          <a:solidFill>
            <a:srgbClr val="131E36"/>
          </a:solidFill>
          <a:ln w="15240">
            <a:solidFill>
              <a:srgbClr val="2535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109728" cy="20574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9264" y="1901952"/>
            <a:ext cx="3035808" cy="1728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50" b="1">
                <a:solidFill>
                  <a:srgbClr val="FFFFFF"/>
                </a:solidFill>
                <a:latin typeface="Segoe UI"/>
              </a:defRPr>
            </a:pPr>
            <a:r>
              <a:t>📄  Paper-Based Applications</a:t>
            </a:r>
          </a:p>
          <a:p>
            <a:pPr>
              <a:spcBef>
                <a:spcPts val="600"/>
              </a:spcBef>
              <a:defRPr sz="1100" b="1">
                <a:solidFill>
                  <a:srgbClr val="F59E0B"/>
                </a:solidFill>
                <a:latin typeface="Segoe UI"/>
              </a:defRPr>
            </a:pPr>
            <a:r>
              <a:t>🚨 IMPACT: PROCESSING DELAYS</a:t>
            </a:r>
          </a:p>
          <a:p>
            <a:pPr>
              <a:spcBef>
                <a:spcPts val="600"/>
              </a:spcBef>
              <a:defRPr sz="1300">
                <a:solidFill>
                  <a:srgbClr val="E2E8F0"/>
                </a:solidFill>
                <a:latin typeface="Segoe UI"/>
              </a:defRPr>
            </a:pPr>
            <a:r>
              <a:t>Manual physical files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5462" y="1737360"/>
            <a:ext cx="3419856" cy="2057400"/>
          </a:xfrm>
          <a:prstGeom prst="roundRect">
            <a:avLst/>
          </a:prstGeom>
          <a:solidFill>
            <a:srgbClr val="131E36"/>
          </a:solidFill>
          <a:ln w="15240">
            <a:solidFill>
              <a:srgbClr val="2535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385462" y="1737360"/>
            <a:ext cx="109728" cy="20574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23206" y="1901952"/>
            <a:ext cx="3035808" cy="1728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50" b="1">
                <a:solidFill>
                  <a:srgbClr val="FFFFFF"/>
                </a:solidFill>
                <a:latin typeface="Segoe UI"/>
              </a:defRPr>
            </a:pPr>
            <a:r>
              <a:t>🔍  Lack of Transparency</a:t>
            </a:r>
          </a:p>
          <a:p>
            <a:pPr>
              <a:spcBef>
                <a:spcPts val="600"/>
              </a:spcBef>
              <a:defRPr sz="1100" b="1">
                <a:solidFill>
                  <a:srgbClr val="F59E0B"/>
                </a:solidFill>
                <a:latin typeface="Segoe UI"/>
              </a:defRPr>
            </a:pPr>
            <a:r>
              <a:t>🚨 IMPACT: SUBSIDY LEAKAGES</a:t>
            </a:r>
          </a:p>
          <a:p>
            <a:pPr>
              <a:spcBef>
                <a:spcPts val="600"/>
              </a:spcBef>
              <a:defRPr sz="1300">
                <a:solidFill>
                  <a:srgbClr val="E2E8F0"/>
                </a:solidFill>
                <a:latin typeface="Segoe UI"/>
              </a:defRPr>
            </a:pPr>
            <a:r>
              <a:t>No centralized scheme visibility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39404" y="1737360"/>
            <a:ext cx="3419856" cy="2057400"/>
          </a:xfrm>
          <a:prstGeom prst="roundRect">
            <a:avLst/>
          </a:prstGeom>
          <a:solidFill>
            <a:srgbClr val="131E36"/>
          </a:solidFill>
          <a:ln w="15240">
            <a:solidFill>
              <a:srgbClr val="2535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039404" y="1737360"/>
            <a:ext cx="109728" cy="20574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77148" y="1901952"/>
            <a:ext cx="3035808" cy="1728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50" b="1">
                <a:solidFill>
                  <a:srgbClr val="FFFFFF"/>
                </a:solidFill>
                <a:latin typeface="Segoe UI"/>
              </a:defRPr>
            </a:pPr>
            <a:r>
              <a:t>⚠️  Physical Verification</a:t>
            </a:r>
          </a:p>
          <a:p>
            <a:pPr>
              <a:spcBef>
                <a:spcPts val="600"/>
              </a:spcBef>
              <a:defRPr sz="1100" b="1">
                <a:solidFill>
                  <a:srgbClr val="F59E0B"/>
                </a:solidFill>
                <a:latin typeface="Segoe UI"/>
              </a:defRPr>
            </a:pPr>
            <a:r>
              <a:t>🚨 IMPACT: FRAUD RISKS</a:t>
            </a:r>
          </a:p>
          <a:p>
            <a:pPr>
              <a:spcBef>
                <a:spcPts val="600"/>
              </a:spcBef>
              <a:defRPr sz="1300">
                <a:solidFill>
                  <a:srgbClr val="E2E8F0"/>
                </a:solidFill>
                <a:latin typeface="Segoe UI"/>
              </a:defRPr>
            </a:pPr>
            <a:r>
              <a:t>Risk of duplicates &amp; forged proofs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023360"/>
            <a:ext cx="3419856" cy="2057400"/>
          </a:xfrm>
          <a:prstGeom prst="roundRect">
            <a:avLst/>
          </a:prstGeom>
          <a:solidFill>
            <a:srgbClr val="131E36"/>
          </a:solidFill>
          <a:ln w="15240">
            <a:solidFill>
              <a:srgbClr val="2535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31520" y="4023360"/>
            <a:ext cx="109728" cy="20574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9264" y="4187952"/>
            <a:ext cx="3035808" cy="1728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50" b="1">
                <a:solidFill>
                  <a:srgbClr val="FFFFFF"/>
                </a:solidFill>
                <a:latin typeface="Segoe UI"/>
              </a:defRPr>
            </a:pPr>
            <a:r>
              <a:t>⏳  No Real-Time Tracking</a:t>
            </a:r>
          </a:p>
          <a:p>
            <a:pPr>
              <a:spcBef>
                <a:spcPts val="600"/>
              </a:spcBef>
              <a:defRPr sz="1100" b="1">
                <a:solidFill>
                  <a:srgbClr val="F59E0B"/>
                </a:solidFill>
                <a:latin typeface="Segoe UI"/>
              </a:defRPr>
            </a:pPr>
            <a:r>
              <a:t>🚨 IMPACT: CITIZEN UNCERTAINTY</a:t>
            </a:r>
          </a:p>
          <a:p>
            <a:pPr>
              <a:spcBef>
                <a:spcPts val="600"/>
              </a:spcBef>
              <a:defRPr sz="1300">
                <a:solidFill>
                  <a:srgbClr val="E2E8F0"/>
                </a:solidFill>
                <a:latin typeface="Segoe UI"/>
              </a:defRPr>
            </a:pPr>
            <a:r>
              <a:t>Citizens lack status visibility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5462" y="4023360"/>
            <a:ext cx="3419856" cy="2057400"/>
          </a:xfrm>
          <a:prstGeom prst="roundRect">
            <a:avLst/>
          </a:prstGeom>
          <a:solidFill>
            <a:srgbClr val="131E36"/>
          </a:solidFill>
          <a:ln w="15240">
            <a:solidFill>
              <a:srgbClr val="2535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385462" y="4023360"/>
            <a:ext cx="109728" cy="20574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23206" y="4187952"/>
            <a:ext cx="3035808" cy="1728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50" b="1">
                <a:solidFill>
                  <a:srgbClr val="FFFFFF"/>
                </a:solidFill>
                <a:latin typeface="Segoe UI"/>
              </a:defRPr>
            </a:pPr>
            <a:r>
              <a:t>🏦  Delayed Disbursement</a:t>
            </a:r>
          </a:p>
          <a:p>
            <a:pPr>
              <a:spcBef>
                <a:spcPts val="600"/>
              </a:spcBef>
              <a:defRPr sz="1100" b="1">
                <a:solidFill>
                  <a:srgbClr val="F59E0B"/>
                </a:solidFill>
                <a:latin typeface="Segoe UI"/>
              </a:defRPr>
            </a:pPr>
            <a:r>
              <a:t>🚨 IMPACT: FUND DELIVERY DELAYS</a:t>
            </a:r>
          </a:p>
          <a:p>
            <a:pPr>
              <a:spcBef>
                <a:spcPts val="600"/>
              </a:spcBef>
              <a:defRPr sz="1300">
                <a:solidFill>
                  <a:srgbClr val="E2E8F0"/>
                </a:solidFill>
                <a:latin typeface="Segoe UI"/>
              </a:defRPr>
            </a:pPr>
            <a:r>
              <a:t>Manual voucher release bottlenecks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39404" y="4023360"/>
            <a:ext cx="3419856" cy="2057400"/>
          </a:xfrm>
          <a:prstGeom prst="roundRect">
            <a:avLst/>
          </a:prstGeom>
          <a:solidFill>
            <a:srgbClr val="131E36"/>
          </a:solidFill>
          <a:ln w="15240">
            <a:solidFill>
              <a:srgbClr val="2535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039404" y="4023360"/>
            <a:ext cx="109728" cy="20574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77148" y="4187952"/>
            <a:ext cx="3035808" cy="1728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50" b="1">
                <a:solidFill>
                  <a:srgbClr val="FFFFFF"/>
                </a:solidFill>
                <a:latin typeface="Segoe UI"/>
              </a:defRPr>
            </a:pPr>
            <a:r>
              <a:t>⚖️  Poor Audit Trails</a:t>
            </a:r>
          </a:p>
          <a:p>
            <a:pPr>
              <a:spcBef>
                <a:spcPts val="600"/>
              </a:spcBef>
              <a:defRPr sz="1100" b="1">
                <a:solidFill>
                  <a:srgbClr val="F59E0B"/>
                </a:solidFill>
                <a:latin typeface="Segoe UI"/>
              </a:defRPr>
            </a:pPr>
            <a:r>
              <a:t>🚨 IMPACT: ACCOUNTABILITY GAPS</a:t>
            </a:r>
          </a:p>
          <a:p>
            <a:pPr>
              <a:spcBef>
                <a:spcPts val="600"/>
              </a:spcBef>
              <a:defRPr sz="1300">
                <a:solidFill>
                  <a:srgbClr val="E2E8F0"/>
                </a:solidFill>
                <a:latin typeface="Segoe UI"/>
              </a:defRPr>
            </a:pPr>
            <a:r>
              <a:t>Paper logs hinder grievance redressal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75488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PROJECT OVERVIEW  •  SLIDE 3 OF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Our Solution — DSGA Platform</a:t>
            </a:r>
          </a:p>
          <a:p>
            <a:pPr>
              <a:spcBef>
                <a:spcPts val="2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A modern enterprise-grade DBT e-governance architecture replacing paper silos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58030" y="1965960"/>
            <a:ext cx="3474720" cy="2468880"/>
          </a:xfrm>
          <a:prstGeom prst="roundRect">
            <a:avLst/>
          </a:prstGeom>
          <a:solidFill>
            <a:srgbClr val="1C2B4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600"/>
              </a:spcBef>
              <a:defRPr sz="1900" b="1">
                <a:solidFill>
                  <a:srgbClr val="FFFFFF"/>
                </a:solidFill>
                <a:latin typeface="Segoe UI"/>
              </a:defRPr>
            </a:pPr>
            <a:r>
              <a:t>🏛️ DSGA PLATFORM</a:t>
            </a:r>
          </a:p>
          <a:p>
            <a:pPr algn="ctr">
              <a:spcBef>
                <a:spcPts val="600"/>
              </a:spcBef>
              <a:defRPr sz="1300" b="1">
                <a:solidFill>
                  <a:srgbClr val="38BDF8"/>
                </a:solidFill>
                <a:latin typeface="Segoe UI"/>
              </a:defRPr>
            </a:pPr>
            <a:r>
              <a:t>Enterprise DBT E-Governance</a:t>
            </a:r>
          </a:p>
          <a:p>
            <a:pPr algn="ctr">
              <a:spcBef>
                <a:spcPts val="8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Automated Subsidies • Direct Transfers • Real-Time Tracking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3419856" cy="1417320"/>
          </a:xfrm>
          <a:prstGeom prst="roundRect">
            <a:avLst/>
          </a:prstGeom>
          <a:solidFill>
            <a:srgbClr val="131E36"/>
          </a:solidFill>
          <a:ln w="15240">
            <a:solidFill>
              <a:srgbClr val="2535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3419856" cy="7315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847088"/>
            <a:ext cx="3054096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📝 Application  |  Online Subsidy Applications</a:t>
            </a:r>
          </a:p>
          <a:p>
            <a:pPr>
              <a:spcBef>
                <a:spcPts val="400"/>
              </a:spcBef>
              <a:defRPr sz="1200">
                <a:solidFill>
                  <a:srgbClr val="E2E8F0"/>
                </a:solidFill>
                <a:latin typeface="Segoe UI"/>
              </a:defRPr>
            </a:pPr>
            <a:r>
              <a:t>Self-service portal &amp; document upload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337560"/>
            <a:ext cx="3419856" cy="1417320"/>
          </a:xfrm>
          <a:prstGeom prst="roundRect">
            <a:avLst/>
          </a:prstGeom>
          <a:solidFill>
            <a:srgbClr val="131E36"/>
          </a:solidFill>
          <a:ln w="15240">
            <a:solidFill>
              <a:srgbClr val="2535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1520" y="3337560"/>
            <a:ext cx="3419856" cy="7315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447288"/>
            <a:ext cx="3054096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👥 Governance  |  Multi-Role Approval</a:t>
            </a:r>
          </a:p>
          <a:p>
            <a:pPr>
              <a:spcBef>
                <a:spcPts val="400"/>
              </a:spcBef>
              <a:defRPr sz="1200">
                <a:solidFill>
                  <a:srgbClr val="E2E8F0"/>
                </a:solidFill>
                <a:latin typeface="Segoe UI"/>
              </a:defRPr>
            </a:pPr>
            <a:r>
              <a:t>Separation: Verifier, Approver, Sanctioner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39404" y="1737360"/>
            <a:ext cx="3419856" cy="1417320"/>
          </a:xfrm>
          <a:prstGeom prst="roundRect">
            <a:avLst/>
          </a:prstGeom>
          <a:solidFill>
            <a:srgbClr val="131E36"/>
          </a:solidFill>
          <a:ln w="15240">
            <a:solidFill>
              <a:srgbClr val="2535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039404" y="1737360"/>
            <a:ext cx="3419856" cy="7315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2284" y="1847088"/>
            <a:ext cx="3054096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⚡ Connectivity  |  Secure REST APIs</a:t>
            </a:r>
          </a:p>
          <a:p>
            <a:pPr>
              <a:spcBef>
                <a:spcPts val="400"/>
              </a:spcBef>
              <a:defRPr sz="1200">
                <a:solidFill>
                  <a:srgbClr val="E2E8F0"/>
                </a:solidFill>
                <a:latin typeface="Segoe UI"/>
              </a:defRPr>
            </a:pPr>
            <a:r>
              <a:t>Schemes, applications &amp; payment endpoints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9404" y="3337560"/>
            <a:ext cx="3419856" cy="1417320"/>
          </a:xfrm>
          <a:prstGeom prst="roundRect">
            <a:avLst/>
          </a:prstGeom>
          <a:solidFill>
            <a:srgbClr val="131E36"/>
          </a:solidFill>
          <a:ln w="15240">
            <a:solidFill>
              <a:srgbClr val="2535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039404" y="3337560"/>
            <a:ext cx="3419856" cy="7315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2284" y="3447288"/>
            <a:ext cx="3054096" cy="1234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🔄 Continuity  |  Offline Sync</a:t>
            </a:r>
          </a:p>
          <a:p>
            <a:pPr>
              <a:spcBef>
                <a:spcPts val="400"/>
              </a:spcBef>
              <a:defRPr sz="1200">
                <a:solidFill>
                  <a:srgbClr val="E2E8F0"/>
                </a:solidFill>
                <a:latin typeface="Segoe UI"/>
              </a:defRPr>
            </a:pPr>
            <a:r>
              <a:t>Remote field verification persistence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74720" y="4892040"/>
            <a:ext cx="5242255" cy="1188720"/>
          </a:xfrm>
          <a:prstGeom prst="roundRect">
            <a:avLst/>
          </a:prstGeom>
          <a:solidFill>
            <a:srgbClr val="131E36"/>
          </a:solidFill>
          <a:ln w="15240">
            <a:solidFill>
              <a:srgbClr val="2535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474720" y="4892040"/>
            <a:ext cx="5242255" cy="7315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0" y="5001768"/>
            <a:ext cx="487649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🔐 Protection  |  JWT + RBAC Security</a:t>
            </a:r>
          </a:p>
          <a:p>
            <a:pPr>
              <a:spcBef>
                <a:spcPts val="400"/>
              </a:spcBef>
              <a:defRPr sz="1200">
                <a:solidFill>
                  <a:srgbClr val="E2E8F0"/>
                </a:solidFill>
                <a:latin typeface="Segoe UI"/>
              </a:defRPr>
            </a:pPr>
            <a:r>
              <a:t>Cryptographic token role authorization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6217920"/>
            <a:ext cx="10728655" cy="411480"/>
          </a:xfrm>
          <a:prstGeom prst="roundRect">
            <a:avLst/>
          </a:prstGeom>
          <a:solidFill>
            <a:srgbClr val="1C2B4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38BDF8"/>
                </a:solidFill>
                <a:latin typeface="Segoe UI"/>
              </a:defRPr>
            </a:pPr>
            <a:r>
              <a:t>CORE FOUNDATION:  Java 17  •  Spring Boot 3  •  React 19  •  MySQL / H2 Relational Database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75488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SYSTEM ENGINEERING  •  SLIDE 4 OF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Technology Stack</a:t>
            </a:r>
          </a:p>
          <a:p>
            <a:pPr>
              <a:spcBef>
                <a:spcPts val="2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Robust 4-layer enterprise architecture built with modern frameworks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728655" cy="1051560"/>
          </a:xfrm>
          <a:prstGeom prst="roundRect">
            <a:avLst/>
          </a:prstGeom>
          <a:solidFill>
            <a:srgbClr val="131E36"/>
          </a:solidFill>
          <a:ln w="12700">
            <a:solidFill>
              <a:srgbClr val="2535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128016" cy="105156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810512"/>
            <a:ext cx="6217920" cy="905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LAYER 1: FRONTEND PRESENTATION TIER</a:t>
            </a:r>
          </a:p>
          <a:p>
            <a:pPr>
              <a:spcBef>
                <a:spcPts val="2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React 19 + Vite 8 + Tailwind CSS + Recharts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Fast Single Page App (SPA), responsive dashboards, analytics charts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06640" y="1874520"/>
            <a:ext cx="3840480" cy="777240"/>
          </a:xfrm>
          <a:prstGeom prst="roundRect">
            <a:avLst/>
          </a:prstGeom>
          <a:solidFill>
            <a:srgbClr val="1C2B4B"/>
          </a:solidFill>
          <a:ln w="10160">
            <a:solidFill>
              <a:srgbClr val="2535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React 19 • Vite 8 • Tailwind CSS • Recharts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35224"/>
            <a:ext cx="10728655" cy="1051560"/>
          </a:xfrm>
          <a:prstGeom prst="roundRect">
            <a:avLst/>
          </a:prstGeom>
          <a:solidFill>
            <a:srgbClr val="131E36"/>
          </a:solidFill>
          <a:ln w="12700">
            <a:solidFill>
              <a:srgbClr val="2535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1520" y="2935224"/>
            <a:ext cx="128016" cy="1051560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3008376"/>
            <a:ext cx="6217920" cy="905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60A5FA"/>
                </a:solidFill>
                <a:latin typeface="Segoe UI"/>
              </a:defRPr>
            </a:pPr>
            <a:r>
              <a:t>LAYER 2: BACKEND ENTERPRISE SERVICES</a:t>
            </a:r>
          </a:p>
          <a:p>
            <a:pPr>
              <a:spcBef>
                <a:spcPts val="2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Java 17 + Spring Boot 3.2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Modular REST microservices, business logic, validation &amp; transactions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3072384"/>
            <a:ext cx="3840480" cy="777240"/>
          </a:xfrm>
          <a:prstGeom prst="roundRect">
            <a:avLst/>
          </a:prstGeom>
          <a:solidFill>
            <a:srgbClr val="1C2B4B"/>
          </a:solidFill>
          <a:ln w="10160">
            <a:solidFill>
              <a:srgbClr val="2535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Java 17 LTS • Spring Boot 3.2 • REST APIs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33088"/>
            <a:ext cx="10728655" cy="1051560"/>
          </a:xfrm>
          <a:prstGeom prst="roundRect">
            <a:avLst/>
          </a:prstGeom>
          <a:solidFill>
            <a:srgbClr val="131E36"/>
          </a:solidFill>
          <a:ln w="12700">
            <a:solidFill>
              <a:srgbClr val="2535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31520" y="4133088"/>
            <a:ext cx="128016" cy="105156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4206240"/>
            <a:ext cx="6217920" cy="905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DD4BF"/>
                </a:solidFill>
                <a:latin typeface="Segoe UI"/>
              </a:defRPr>
            </a:pPr>
            <a:r>
              <a:t>LAYER 3: SECURITY &amp; ACCESS CONTROL</a:t>
            </a:r>
          </a:p>
          <a:p>
            <a:pPr>
              <a:spcBef>
                <a:spcPts val="2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Spring Security + JWT (JSON Web Tokens)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Stateless authentication filter, Role-Based Access Control (RBAC), BCrypt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06640" y="4270248"/>
            <a:ext cx="3840480" cy="777240"/>
          </a:xfrm>
          <a:prstGeom prst="roundRect">
            <a:avLst/>
          </a:prstGeom>
          <a:solidFill>
            <a:srgbClr val="1C2B4B"/>
          </a:solidFill>
          <a:ln w="10160">
            <a:solidFill>
              <a:srgbClr val="2535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Spring Security 6 • JWT Auth • RBAC • BCrypt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330952"/>
            <a:ext cx="10728655" cy="1051560"/>
          </a:xfrm>
          <a:prstGeom prst="roundRect">
            <a:avLst/>
          </a:prstGeom>
          <a:solidFill>
            <a:srgbClr val="131E36"/>
          </a:solidFill>
          <a:ln w="12700">
            <a:solidFill>
              <a:srgbClr val="2535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31520" y="5330952"/>
            <a:ext cx="128016" cy="1051560"/>
          </a:xfrm>
          <a:prstGeom prst="round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51560" y="5404104"/>
            <a:ext cx="6217920" cy="905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94A3B8"/>
                </a:solidFill>
                <a:latin typeface="Segoe UI"/>
              </a:defRPr>
            </a:pPr>
            <a:r>
              <a:t>LAYER 4: PERSISTENCE &amp; API TESTING</a:t>
            </a:r>
          </a:p>
          <a:p>
            <a:pPr>
              <a:spcBef>
                <a:spcPts val="2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Spring Data JPA + Hibernate + MySQL / H2 + REST APIs + Swagger / Postman</a:t>
            </a:r>
          </a:p>
          <a:p>
            <a:pPr>
              <a:spcBef>
                <a:spcPts val="2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ORM entity mappings, dual-mode DB (MySQL prod / H2 test), API test suites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06640" y="5468112"/>
            <a:ext cx="3840480" cy="777240"/>
          </a:xfrm>
          <a:prstGeom prst="roundRect">
            <a:avLst/>
          </a:prstGeom>
          <a:solidFill>
            <a:srgbClr val="1C2B4B"/>
          </a:solidFill>
          <a:ln w="10160">
            <a:solidFill>
              <a:srgbClr val="2535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Spring Data JPA • MySQL / H2 • Swagger • Postman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75488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ARCHITECTURE FLOW  •  SLIDE 5 OF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System Architecture</a:t>
            </a:r>
          </a:p>
          <a:p>
            <a:pPr>
              <a:spcBef>
                <a:spcPts val="2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End-to-end layered data pipeline connecting clients, business services, and database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920240" cy="3200400"/>
          </a:xfrm>
          <a:prstGeom prst="roundRect">
            <a:avLst/>
          </a:prstGeom>
          <a:solidFill>
            <a:srgbClr val="131E3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1920240" cy="475488"/>
          </a:xfrm>
          <a:prstGeom prst="roundRect">
            <a:avLst/>
          </a:prstGeom>
          <a:solidFill>
            <a:srgbClr val="18284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38BDF8"/>
                </a:solidFill>
                <a:latin typeface="Segoe UI"/>
              </a:defRPr>
            </a:pPr>
            <a:r>
              <a:t>1. CLIENT TIER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1737360" cy="2514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React 19 Frontend</a:t>
            </a:r>
            <a:br/>
            <a:r>
              <a:t>&amp; Postman API Suite</a:t>
            </a:r>
          </a:p>
          <a:p>
            <a:pPr algn="ctr">
              <a:spcBef>
                <a:spcPts val="800"/>
              </a:spcBef>
              <a:defRPr sz="800">
                <a:solidFill>
                  <a:srgbClr val="253556"/>
                </a:solidFill>
              </a:defRPr>
            </a:pPr>
            <a:r>
              <a:t>─────────</a:t>
            </a:r>
          </a:p>
          <a:p>
            <a:pPr algn="ctr">
              <a:spcBef>
                <a:spcPts val="8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Citizen Portal</a:t>
            </a:r>
            <a:br/>
            <a:r>
              <a:t>Admin Dashboard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701137" y="3154680"/>
            <a:ext cx="182880" cy="237744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933395" y="1737360"/>
            <a:ext cx="1920240" cy="3200400"/>
          </a:xfrm>
          <a:prstGeom prst="roundRect">
            <a:avLst/>
          </a:prstGeom>
          <a:solidFill>
            <a:srgbClr val="131E36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933395" y="1737360"/>
            <a:ext cx="1920240" cy="475488"/>
          </a:xfrm>
          <a:prstGeom prst="roundRect">
            <a:avLst/>
          </a:prstGeom>
          <a:solidFill>
            <a:srgbClr val="182848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60A5FA"/>
                </a:solidFill>
                <a:latin typeface="Segoe UI"/>
              </a:defRPr>
            </a:pPr>
            <a:r>
              <a:t>2. REST API GATEWAY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24835" y="2331720"/>
            <a:ext cx="1737360" cy="2514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Spring Boot Controllers</a:t>
            </a:r>
            <a:br/>
            <a:r>
              <a:t>&amp; Security Filter</a:t>
            </a:r>
          </a:p>
          <a:p>
            <a:pPr algn="ctr">
              <a:spcBef>
                <a:spcPts val="800"/>
              </a:spcBef>
              <a:defRPr sz="800">
                <a:solidFill>
                  <a:srgbClr val="253556"/>
                </a:solidFill>
              </a:defRPr>
            </a:pPr>
            <a:r>
              <a:t>─────────</a:t>
            </a:r>
          </a:p>
          <a:p>
            <a:pPr algn="ctr">
              <a:spcBef>
                <a:spcPts val="8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JWT Auth Filter</a:t>
            </a:r>
            <a:br/>
            <a:r>
              <a:t>DTO Validation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903012" y="3154680"/>
            <a:ext cx="182880" cy="237744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135270" y="1737360"/>
            <a:ext cx="1920240" cy="3200400"/>
          </a:xfrm>
          <a:prstGeom prst="roundRect">
            <a:avLst/>
          </a:prstGeom>
          <a:solidFill>
            <a:srgbClr val="131E3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135270" y="1737360"/>
            <a:ext cx="1920240" cy="475488"/>
          </a:xfrm>
          <a:prstGeom prst="roundRect">
            <a:avLst/>
          </a:prstGeom>
          <a:solidFill>
            <a:srgbClr val="18284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38BDF8"/>
                </a:solidFill>
                <a:latin typeface="Segoe UI"/>
              </a:defRPr>
            </a:pPr>
            <a:r>
              <a:t>3. SERVICE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6710" y="2331720"/>
            <a:ext cx="1737360" cy="2514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Spring Business</a:t>
            </a:r>
            <a:br/>
            <a:r>
              <a:t>Service Logic</a:t>
            </a:r>
          </a:p>
          <a:p>
            <a:pPr algn="ctr">
              <a:spcBef>
                <a:spcPts val="800"/>
              </a:spcBef>
              <a:defRPr sz="800">
                <a:solidFill>
                  <a:srgbClr val="253556"/>
                </a:solidFill>
              </a:defRPr>
            </a:pPr>
            <a:r>
              <a:t>─────────</a:t>
            </a:r>
          </a:p>
          <a:p>
            <a:pPr algn="ctr">
              <a:spcBef>
                <a:spcPts val="8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Workflow Engine</a:t>
            </a:r>
            <a:br/>
            <a:r>
              <a:t>Approval Rules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104887" y="3154680"/>
            <a:ext cx="182880" cy="237744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337145" y="1737360"/>
            <a:ext cx="1920240" cy="3200400"/>
          </a:xfrm>
          <a:prstGeom prst="roundRect">
            <a:avLst/>
          </a:prstGeom>
          <a:solidFill>
            <a:srgbClr val="131E36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337145" y="1737360"/>
            <a:ext cx="1920240" cy="475488"/>
          </a:xfrm>
          <a:prstGeom prst="roundRect">
            <a:avLst/>
          </a:prstGeom>
          <a:solidFill>
            <a:srgbClr val="182848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60A5FA"/>
                </a:solidFill>
                <a:latin typeface="Segoe UI"/>
              </a:defRPr>
            </a:pPr>
            <a:r>
              <a:t>4. REPOSITORY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8585" y="2331720"/>
            <a:ext cx="1737360" cy="2514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Spring Data JPA</a:t>
            </a:r>
            <a:br/>
            <a:r>
              <a:t>&amp; Hibernate ORM</a:t>
            </a:r>
          </a:p>
          <a:p>
            <a:pPr algn="ctr">
              <a:spcBef>
                <a:spcPts val="800"/>
              </a:spcBef>
              <a:defRPr sz="800">
                <a:solidFill>
                  <a:srgbClr val="253556"/>
                </a:solidFill>
              </a:defRPr>
            </a:pPr>
            <a:r>
              <a:t>─────────</a:t>
            </a:r>
          </a:p>
          <a:p>
            <a:pPr algn="ctr">
              <a:spcBef>
                <a:spcPts val="8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CRUD Repositories</a:t>
            </a:r>
            <a:br/>
            <a:r>
              <a:t>DB Transactions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306762" y="3154680"/>
            <a:ext cx="182880" cy="237744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539020" y="1737360"/>
            <a:ext cx="1920240" cy="3200400"/>
          </a:xfrm>
          <a:prstGeom prst="roundRect">
            <a:avLst/>
          </a:prstGeom>
          <a:solidFill>
            <a:srgbClr val="131E36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539020" y="1737360"/>
            <a:ext cx="1920240" cy="475488"/>
          </a:xfrm>
          <a:prstGeom prst="roundRect">
            <a:avLst/>
          </a:prstGeom>
          <a:solidFill>
            <a:srgbClr val="123038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2DD4BF"/>
                </a:solidFill>
                <a:latin typeface="Segoe UI"/>
              </a:defRPr>
            </a:pPr>
            <a:r>
              <a:t>5. DATABASE TIER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30460" y="2331720"/>
            <a:ext cx="1737360" cy="2514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MySQL Production</a:t>
            </a:r>
            <a:br/>
            <a:r>
              <a:t>&amp; H2 Test Database</a:t>
            </a:r>
          </a:p>
          <a:p>
            <a:pPr algn="ctr">
              <a:spcBef>
                <a:spcPts val="800"/>
              </a:spcBef>
              <a:defRPr sz="800">
                <a:solidFill>
                  <a:srgbClr val="253556"/>
                </a:solidFill>
              </a:defRPr>
            </a:pPr>
            <a:r>
              <a:t>─────────</a:t>
            </a:r>
          </a:p>
          <a:p>
            <a:pPr algn="ctr">
              <a:spcBef>
                <a:spcPts val="8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Schemes, Ledger</a:t>
            </a:r>
            <a:br/>
            <a:r>
              <a:t>Audit Trail Records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166360"/>
            <a:ext cx="10728655" cy="868680"/>
          </a:xfrm>
          <a:prstGeom prst="roundRect">
            <a:avLst/>
          </a:prstGeom>
          <a:solidFill>
            <a:srgbClr val="131E36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300"/>
              </a:spcBef>
              <a:defRPr sz="1050" b="1">
                <a:solidFill>
                  <a:srgbClr val="38BDF8"/>
                </a:solidFill>
                <a:latin typeface="Segoe UI"/>
              </a:defRPr>
            </a:pPr>
            <a:r>
              <a:t>CORE SYSTEM PIPELINE EXECUTION FLOW</a:t>
            </a:r>
          </a:p>
          <a:p>
            <a:pPr algn="ctr">
              <a:spcBef>
                <a:spcPts val="2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Client (React/Postman)  ➔  REST API Controller  ➔  Business Service  ➔  JPA Repository  ➔  MySQL / H2 DB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75488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SECURITY &amp; VERIFICATION  •  SLIDE 6 OF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Security Architecture &amp; API Testing</a:t>
            </a:r>
          </a:p>
          <a:p>
            <a:pPr>
              <a:spcBef>
                <a:spcPts val="2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JWT authentication lifecycle paired with comprehensive Postman API test suites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3794760"/>
          </a:xfrm>
          <a:prstGeom prst="roundRect">
            <a:avLst/>
          </a:prstGeom>
          <a:solidFill>
            <a:srgbClr val="131E36"/>
          </a:solidFill>
          <a:ln w="15240">
            <a:solidFill>
              <a:srgbClr val="2535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5212080" cy="502920"/>
          </a:xfrm>
          <a:prstGeom prst="roundRect">
            <a:avLst/>
          </a:prstGeom>
          <a:solidFill>
            <a:srgbClr val="18284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🔐 JWT AUTHENTICATION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500"/>
              </a:spcBef>
              <a:defRPr sz="1200">
                <a:solidFill>
                  <a:srgbClr val="E2E8F0"/>
                </a:solidFill>
                <a:latin typeface="Segoe UI"/>
              </a:defRPr>
            </a:pPr>
            <a:r>
              <a:t>1. Login Credentials: POST /api/auth/login</a:t>
            </a:r>
          </a:p>
          <a:p>
            <a:pPr>
              <a:spcBef>
                <a:spcPts val="500"/>
              </a:spcBef>
              <a:defRPr sz="1200">
                <a:solidFill>
                  <a:srgbClr val="E2E8F0"/>
                </a:solidFill>
                <a:latin typeface="Segoe UI"/>
              </a:defRPr>
            </a:pPr>
            <a:r>
              <a:t>2. Spring Security: Validates user identity &amp; credentials</a:t>
            </a:r>
          </a:p>
          <a:p>
            <a:pPr>
              <a:spcBef>
                <a:spcPts val="500"/>
              </a:spcBef>
              <a:defRPr sz="1200">
                <a:solidFill>
                  <a:srgbClr val="E2E8F0"/>
                </a:solidFill>
                <a:latin typeface="Segoe UI"/>
              </a:defRPr>
            </a:pPr>
            <a:r>
              <a:t>3. Signed JWT Token: Generated with role claims</a:t>
            </a:r>
          </a:p>
          <a:p>
            <a:pPr>
              <a:spcBef>
                <a:spcPts val="500"/>
              </a:spcBef>
              <a:defRPr sz="1200">
                <a:solidFill>
                  <a:srgbClr val="E2E8F0"/>
                </a:solidFill>
                <a:latin typeface="Segoe UI"/>
              </a:defRPr>
            </a:pPr>
            <a:r>
              <a:t>4. Bearer Token Returned: Client attaches token in headers</a:t>
            </a:r>
          </a:p>
          <a:p>
            <a:pPr>
              <a:spcBef>
                <a:spcPts val="500"/>
              </a:spcBef>
              <a:defRPr sz="1200">
                <a:solidFill>
                  <a:srgbClr val="E2E8F0"/>
                </a:solidFill>
                <a:latin typeface="Segoe UI"/>
              </a:defRPr>
            </a:pPr>
            <a:r>
              <a:t>5. Secure Request Validation: AuthFilter inspects every request</a:t>
            </a:r>
          </a:p>
          <a:p>
            <a:pPr>
              <a:spcBef>
                <a:spcPts val="500"/>
              </a:spcBef>
              <a:defRPr sz="1200">
                <a:solidFill>
                  <a:srgbClr val="E2E8F0"/>
                </a:solidFill>
                <a:latin typeface="Segoe UI"/>
              </a:defRPr>
            </a:pPr>
            <a:r>
              <a:t>6. Token Expiration: Stateless session protection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8095" y="1737360"/>
            <a:ext cx="5212080" cy="3794760"/>
          </a:xfrm>
          <a:prstGeom prst="roundRect">
            <a:avLst/>
          </a:prstGeom>
          <a:solidFill>
            <a:srgbClr val="131E36"/>
          </a:solidFill>
          <a:ln w="15240">
            <a:solidFill>
              <a:srgbClr val="2535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248095" y="1737360"/>
            <a:ext cx="5212080" cy="502920"/>
          </a:xfrm>
          <a:prstGeom prst="roundRect">
            <a:avLst/>
          </a:prstGeom>
          <a:solidFill>
            <a:srgbClr val="123038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DD4BF"/>
                </a:solidFill>
                <a:latin typeface="Segoe UI"/>
              </a:defRPr>
            </a:pPr>
            <a:r>
              <a:t>🧪 POSTMAN API VERIFICATION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331720"/>
            <a:ext cx="484632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500"/>
              </a:spcBef>
              <a:defRPr sz="1200">
                <a:solidFill>
                  <a:srgbClr val="E2E8F0"/>
                </a:solidFill>
                <a:latin typeface="Segoe UI"/>
              </a:defRPr>
            </a:pPr>
            <a:r>
              <a:t>• Auth APIs: Login &amp; role retrieval verified across roles</a:t>
            </a:r>
          </a:p>
          <a:p>
            <a:pPr>
              <a:spcBef>
                <a:spcPts val="500"/>
              </a:spcBef>
              <a:defRPr sz="1200">
                <a:solidFill>
                  <a:srgbClr val="E2E8F0"/>
                </a:solidFill>
                <a:latin typeface="Segoe UI"/>
              </a:defRPr>
            </a:pPr>
            <a:r>
              <a:t>• Scheme APIs: GET /api/schemes, POST validation</a:t>
            </a:r>
          </a:p>
          <a:p>
            <a:pPr>
              <a:spcBef>
                <a:spcPts val="500"/>
              </a:spcBef>
              <a:defRPr sz="1200">
                <a:solidFill>
                  <a:srgbClr val="E2E8F0"/>
                </a:solidFill>
                <a:latin typeface="Segoe UI"/>
              </a:defRPr>
            </a:pPr>
            <a:r>
              <a:t>• Application APIs: Submission, status queries &amp; uploads</a:t>
            </a:r>
          </a:p>
          <a:p>
            <a:pPr>
              <a:spcBef>
                <a:spcPts val="500"/>
              </a:spcBef>
              <a:defRPr sz="1200">
                <a:solidFill>
                  <a:srgbClr val="E2E8F0"/>
                </a:solidFill>
                <a:latin typeface="Segoe UI"/>
              </a:defRPr>
            </a:pPr>
            <a:r>
              <a:t>• Payment APIs: Sanction order generation &amp; DBT trigger</a:t>
            </a:r>
          </a:p>
          <a:p>
            <a:pPr>
              <a:spcBef>
                <a:spcPts val="500"/>
              </a:spcBef>
              <a:defRPr sz="1200">
                <a:solidFill>
                  <a:srgbClr val="E2E8F0"/>
                </a:solidFill>
                <a:latin typeface="Segoe UI"/>
              </a:defRPr>
            </a:pPr>
            <a:r>
              <a:t>• Authorization Header: Bearer token auto-injected</a:t>
            </a:r>
          </a:p>
          <a:p>
            <a:pPr>
              <a:spcBef>
                <a:spcPts val="500"/>
              </a:spcBef>
              <a:defRPr sz="1200">
                <a:solidFill>
                  <a:srgbClr val="E2E8F0"/>
                </a:solidFill>
                <a:latin typeface="Segoe UI"/>
              </a:defRPr>
            </a:pPr>
            <a:r>
              <a:t>• Response Validation: HTTP 200 OK, 201 Created &amp; 403 Forbidden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715000"/>
            <a:ext cx="10728655" cy="502920"/>
          </a:xfrm>
          <a:prstGeom prst="roundRect">
            <a:avLst/>
          </a:prstGeom>
          <a:solidFill>
            <a:srgbClr val="1C2B4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Segoe UI"/>
              </a:defRPr>
            </a:pPr>
            <a:r>
              <a:t>SECURITY CHAIN:   User Login  ➔  Signed JWT  ➔  RBAC Authorization  ➔  Secure Protected REST Endpoint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75488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CORE OPERATION  •  SLIDE 7 OF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System Workflow — 5-Stage Pipeline</a:t>
            </a:r>
          </a:p>
          <a:p>
            <a:pPr>
              <a:spcBef>
                <a:spcPts val="2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End-to-end transparent lifecycle from citizen application to DBT fund credit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920240" cy="3200400"/>
          </a:xfrm>
          <a:prstGeom prst="roundRect">
            <a:avLst/>
          </a:prstGeom>
          <a:solidFill>
            <a:srgbClr val="131E36"/>
          </a:solidFill>
          <a:ln w="15240">
            <a:solidFill>
              <a:srgbClr val="2535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453896" y="1536192"/>
            <a:ext cx="475488" cy="475488"/>
          </a:xfrm>
          <a:prstGeom prst="ellipse">
            <a:avLst/>
          </a:prstGeom>
          <a:solidFill>
            <a:srgbClr val="38BDF8"/>
          </a:solidFill>
          <a:ln w="25400"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A0F1D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84831"/>
            <a:ext cx="1737360" cy="2761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STAGE 1</a:t>
            </a:r>
          </a:p>
          <a:p>
            <a:pPr algn="ctr">
              <a:spcBef>
                <a:spcPts val="200"/>
              </a:spcBef>
              <a:defRPr sz="1350" b="1">
                <a:solidFill>
                  <a:srgbClr val="FFFFFF"/>
                </a:solidFill>
                <a:latin typeface="Segoe UI"/>
              </a:defRPr>
            </a:pPr>
            <a:r>
              <a:t>Citizen Applies</a:t>
            </a:r>
          </a:p>
          <a:p>
            <a:pPr algn="ctr">
              <a:spcBef>
                <a:spcPts val="300"/>
              </a:spcBef>
              <a:defRPr sz="1100" b="1">
                <a:solidFill>
                  <a:srgbClr val="38BDF8"/>
                </a:solidFill>
                <a:latin typeface="Segoe UI"/>
              </a:defRPr>
            </a:pPr>
            <a:r>
              <a:t>👤 Citizen</a:t>
            </a:r>
          </a:p>
          <a:p>
            <a:pPr algn="ctr">
              <a:spcBef>
                <a:spcPts val="300"/>
              </a:spcBef>
              <a:defRPr sz="700">
                <a:solidFill>
                  <a:srgbClr val="253556"/>
                </a:solidFill>
              </a:defRPr>
            </a:pPr>
            <a:r>
              <a:t>─────────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Online scheme selection</a:t>
            </a:r>
            <a:br/>
            <a:r>
              <a:t>• Digital document upload</a:t>
            </a:r>
            <a:br/>
            <a:r>
              <a:t>• Instant tracking ID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701137" y="3154680"/>
            <a:ext cx="182880" cy="237744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933395" y="1737360"/>
            <a:ext cx="1920240" cy="3200400"/>
          </a:xfrm>
          <a:prstGeom prst="roundRect">
            <a:avLst/>
          </a:prstGeom>
          <a:solidFill>
            <a:srgbClr val="131E36"/>
          </a:solidFill>
          <a:ln w="15240">
            <a:solidFill>
              <a:srgbClr val="2535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655771" y="1536192"/>
            <a:ext cx="475488" cy="475488"/>
          </a:xfrm>
          <a:prstGeom prst="ellipse">
            <a:avLst/>
          </a:prstGeom>
          <a:solidFill>
            <a:srgbClr val="2DD4BF"/>
          </a:solidFill>
          <a:ln w="25400"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A0F1D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24835" y="2084831"/>
            <a:ext cx="1737360" cy="2761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2DD4BF"/>
                </a:solidFill>
                <a:latin typeface="Segoe UI"/>
              </a:defRPr>
            </a:pPr>
            <a:r>
              <a:t>STAGE 2</a:t>
            </a:r>
          </a:p>
          <a:p>
            <a:pPr algn="ctr">
              <a:spcBef>
                <a:spcPts val="200"/>
              </a:spcBef>
              <a:defRPr sz="1350" b="1">
                <a:solidFill>
                  <a:srgbClr val="FFFFFF"/>
                </a:solidFill>
                <a:latin typeface="Segoe UI"/>
              </a:defRPr>
            </a:pPr>
            <a:r>
              <a:t>Field Verification</a:t>
            </a:r>
          </a:p>
          <a:p>
            <a:pPr algn="ctr">
              <a:spcBef>
                <a:spcPts val="300"/>
              </a:spcBef>
              <a:defRPr sz="1100" b="1">
                <a:solidFill>
                  <a:srgbClr val="2DD4BF"/>
                </a:solidFill>
                <a:latin typeface="Segoe UI"/>
              </a:defRPr>
            </a:pPr>
            <a:r>
              <a:t>📋 Verifier</a:t>
            </a:r>
          </a:p>
          <a:p>
            <a:pPr algn="ctr">
              <a:spcBef>
                <a:spcPts val="300"/>
              </a:spcBef>
              <a:defRPr sz="700">
                <a:solidFill>
                  <a:srgbClr val="253556"/>
                </a:solidFill>
              </a:defRPr>
            </a:pPr>
            <a:r>
              <a:t>─────────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Offline field audit</a:t>
            </a:r>
            <a:br/>
            <a:r>
              <a:t>• Identity verification</a:t>
            </a:r>
            <a:br/>
            <a:r>
              <a:t>• Digital inspection report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903012" y="3154680"/>
            <a:ext cx="182880" cy="237744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135270" y="1737360"/>
            <a:ext cx="1920240" cy="3200400"/>
          </a:xfrm>
          <a:prstGeom prst="roundRect">
            <a:avLst/>
          </a:prstGeom>
          <a:solidFill>
            <a:srgbClr val="131E36"/>
          </a:solidFill>
          <a:ln w="15240">
            <a:solidFill>
              <a:srgbClr val="2535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857646" y="1536192"/>
            <a:ext cx="475488" cy="475488"/>
          </a:xfrm>
          <a:prstGeom prst="ellipse">
            <a:avLst/>
          </a:prstGeom>
          <a:solidFill>
            <a:srgbClr val="60A5FA"/>
          </a:solidFill>
          <a:ln w="25400"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26710" y="2084831"/>
            <a:ext cx="1737360" cy="2761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60A5FA"/>
                </a:solidFill>
                <a:latin typeface="Segoe UI"/>
              </a:defRPr>
            </a:pPr>
            <a:r>
              <a:t>STAGE 3</a:t>
            </a:r>
          </a:p>
          <a:p>
            <a:pPr algn="ctr">
              <a:spcBef>
                <a:spcPts val="200"/>
              </a:spcBef>
              <a:defRPr sz="1350" b="1">
                <a:solidFill>
                  <a:srgbClr val="FFFFFF"/>
                </a:solidFill>
                <a:latin typeface="Segoe UI"/>
              </a:defRPr>
            </a:pPr>
            <a:r>
              <a:t>Officer Approval</a:t>
            </a:r>
          </a:p>
          <a:p>
            <a:pPr algn="ctr">
              <a:spcBef>
                <a:spcPts val="300"/>
              </a:spcBef>
              <a:defRPr sz="1100" b="1">
                <a:solidFill>
                  <a:srgbClr val="60A5FA"/>
                </a:solidFill>
                <a:latin typeface="Segoe UI"/>
              </a:defRPr>
            </a:pPr>
            <a:r>
              <a:t>👔 Approver</a:t>
            </a:r>
          </a:p>
          <a:p>
            <a:pPr algn="ctr">
              <a:spcBef>
                <a:spcPts val="300"/>
              </a:spcBef>
              <a:defRPr sz="700">
                <a:solidFill>
                  <a:srgbClr val="253556"/>
                </a:solidFill>
              </a:defRPr>
            </a:pPr>
            <a:r>
              <a:t>─────────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Eligibility criteria check</a:t>
            </a:r>
            <a:br/>
            <a:r>
              <a:t>• Scheme quota validation</a:t>
            </a:r>
            <a:br/>
            <a:r>
              <a:t>• Departmental sign-off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104887" y="3154680"/>
            <a:ext cx="182880" cy="237744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337145" y="1737360"/>
            <a:ext cx="1920240" cy="3200400"/>
          </a:xfrm>
          <a:prstGeom prst="roundRect">
            <a:avLst/>
          </a:prstGeom>
          <a:solidFill>
            <a:srgbClr val="131E36"/>
          </a:solidFill>
          <a:ln w="15240">
            <a:solidFill>
              <a:srgbClr val="2535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059521" y="1536192"/>
            <a:ext cx="475488" cy="475488"/>
          </a:xfrm>
          <a:prstGeom prst="ellipse">
            <a:avLst/>
          </a:prstGeom>
          <a:solidFill>
            <a:srgbClr val="F59E0B"/>
          </a:solidFill>
          <a:ln w="25400"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8585" y="2084831"/>
            <a:ext cx="1737360" cy="2761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F59E0B"/>
                </a:solidFill>
                <a:latin typeface="Segoe UI"/>
              </a:defRPr>
            </a:pPr>
            <a:r>
              <a:t>STAGE 4</a:t>
            </a:r>
          </a:p>
          <a:p>
            <a:pPr algn="ctr">
              <a:spcBef>
                <a:spcPts val="200"/>
              </a:spcBef>
              <a:defRPr sz="1350" b="1">
                <a:solidFill>
                  <a:srgbClr val="FFFFFF"/>
                </a:solidFill>
                <a:latin typeface="Segoe UI"/>
              </a:defRPr>
            </a:pPr>
            <a:r>
              <a:t>Grant Sanction</a:t>
            </a:r>
          </a:p>
          <a:p>
            <a:pPr algn="ctr">
              <a:spcBef>
                <a:spcPts val="300"/>
              </a:spcBef>
              <a:defRPr sz="1100" b="1">
                <a:solidFill>
                  <a:srgbClr val="F59E0B"/>
                </a:solidFill>
                <a:latin typeface="Segoe UI"/>
              </a:defRPr>
            </a:pPr>
            <a:r>
              <a:t>🏛️ Sanctioner</a:t>
            </a:r>
          </a:p>
          <a:p>
            <a:pPr algn="ctr">
              <a:spcBef>
                <a:spcPts val="300"/>
              </a:spcBef>
              <a:defRPr sz="700">
                <a:solidFill>
                  <a:srgbClr val="253556"/>
                </a:solidFill>
              </a:defRPr>
            </a:pPr>
            <a:r>
              <a:t>─────────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Budget reservation</a:t>
            </a:r>
            <a:br/>
            <a:r>
              <a:t>• Sanction order generated</a:t>
            </a:r>
            <a:br/>
            <a:r>
              <a:t>• Digital voucher release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306762" y="3154680"/>
            <a:ext cx="182880" cy="237744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539020" y="1737360"/>
            <a:ext cx="1920240" cy="3200400"/>
          </a:xfrm>
          <a:prstGeom prst="roundRect">
            <a:avLst/>
          </a:prstGeom>
          <a:solidFill>
            <a:srgbClr val="131E36"/>
          </a:solidFill>
          <a:ln w="15240">
            <a:solidFill>
              <a:srgbClr val="2535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261396" y="1536192"/>
            <a:ext cx="475488" cy="475488"/>
          </a:xfrm>
          <a:prstGeom prst="ellipse">
            <a:avLst/>
          </a:prstGeom>
          <a:solidFill>
            <a:srgbClr val="2DD4BF"/>
          </a:solidFill>
          <a:ln w="25400">
            <a:solidFill>
              <a:srgbClr val="0A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A0F1D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30460" y="2084831"/>
            <a:ext cx="1737360" cy="2761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000" b="1">
                <a:solidFill>
                  <a:srgbClr val="2DD4BF"/>
                </a:solidFill>
                <a:latin typeface="Segoe UI"/>
              </a:defRPr>
            </a:pPr>
            <a:r>
              <a:t>STAGE 5</a:t>
            </a:r>
          </a:p>
          <a:p>
            <a:pPr algn="ctr">
              <a:spcBef>
                <a:spcPts val="200"/>
              </a:spcBef>
              <a:defRPr sz="1350" b="1">
                <a:solidFill>
                  <a:srgbClr val="FFFFFF"/>
                </a:solidFill>
                <a:latin typeface="Segoe UI"/>
              </a:defRPr>
            </a:pPr>
            <a:r>
              <a:t>PFMS / DBT Credit</a:t>
            </a:r>
          </a:p>
          <a:p>
            <a:pPr algn="ctr">
              <a:spcBef>
                <a:spcPts val="300"/>
              </a:spcBef>
              <a:defRPr sz="1100" b="1">
                <a:solidFill>
                  <a:srgbClr val="2DD4BF"/>
                </a:solidFill>
                <a:latin typeface="Segoe UI"/>
              </a:defRPr>
            </a:pPr>
            <a:r>
              <a:t>💳 Bank / PFMS</a:t>
            </a:r>
          </a:p>
          <a:p>
            <a:pPr algn="ctr">
              <a:spcBef>
                <a:spcPts val="300"/>
              </a:spcBef>
              <a:defRPr sz="700">
                <a:solidFill>
                  <a:srgbClr val="253556"/>
                </a:solidFill>
              </a:defRPr>
            </a:pPr>
            <a:r>
              <a:t>─────────</a:t>
            </a:r>
          </a:p>
          <a:p>
            <a:pPr>
              <a:spcBef>
                <a:spcPts val="300"/>
              </a:spcBef>
              <a:defRPr sz="1100">
                <a:solidFill>
                  <a:srgbClr val="E2E8F0"/>
                </a:solidFill>
                <a:latin typeface="Segoe UI"/>
              </a:defRPr>
            </a:pPr>
            <a:r>
              <a:t>• Direct treasury debit</a:t>
            </a:r>
            <a:br/>
            <a:r>
              <a:t>• Automated UTR generated</a:t>
            </a:r>
            <a:br/>
            <a:r>
              <a:t>• Live SMS &amp; tracking update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166360"/>
            <a:ext cx="10728655" cy="868680"/>
          </a:xfrm>
          <a:prstGeom prst="roundRect">
            <a:avLst/>
          </a:prstGeom>
          <a:solidFill>
            <a:srgbClr val="123038"/>
          </a:solidFill>
          <a:ln w="1905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300"/>
              </a:spcBef>
              <a:defRPr sz="1050" b="1">
                <a:solidFill>
                  <a:srgbClr val="2DD4BF"/>
                </a:solidFill>
                <a:latin typeface="Segoe UI"/>
              </a:defRPr>
            </a:pPr>
            <a:r>
              <a:t>PROVEN DISBURSEMENT PIPELINE</a:t>
            </a:r>
          </a:p>
          <a:p>
            <a:pPr algn="ctr">
              <a:spcBef>
                <a:spcPts val="2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Paperless ➔ Verified ➔ Approved ➔ Sanctioned ➔ Direct Bank Transfer (UTR Generated)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75488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VALUE PROPOSITION  •  SLIDE 8 OF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Key Advantages</a:t>
            </a:r>
          </a:p>
          <a:p>
            <a:pPr>
              <a:spcBef>
                <a:spcPts val="2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Transformative benefits delivered by DSGA over legacy subsidy workflows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419856" cy="2057400"/>
          </a:xfrm>
          <a:prstGeom prst="roundRect">
            <a:avLst/>
          </a:prstGeom>
          <a:solidFill>
            <a:srgbClr val="131E36"/>
          </a:solidFill>
          <a:ln w="15240">
            <a:solidFill>
              <a:srgbClr val="2535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3419856" cy="7315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901952"/>
            <a:ext cx="2962656" cy="1764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🔐  Secure</a:t>
            </a:r>
          </a:p>
          <a:p>
            <a:pPr>
              <a:spcBef>
                <a:spcPts val="400"/>
              </a:spcBef>
              <a:defRPr sz="1100" b="1">
                <a:solidFill>
                  <a:srgbClr val="38BDF8"/>
                </a:solidFill>
                <a:latin typeface="Segoe UI"/>
              </a:defRPr>
            </a:pPr>
            <a:r>
              <a:t>✨ JWT + RBAC</a:t>
            </a:r>
          </a:p>
          <a:p>
            <a:pPr>
              <a:spcBef>
                <a:spcPts val="600"/>
              </a:spcBef>
              <a:defRPr sz="1250">
                <a:solidFill>
                  <a:srgbClr val="E2E8F0"/>
                </a:solidFill>
                <a:latin typeface="Segoe UI"/>
              </a:defRPr>
            </a:pPr>
            <a:r>
              <a:t>Encrypted stateless tokens &amp; role permissions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5462" y="1737360"/>
            <a:ext cx="3419856" cy="2057400"/>
          </a:xfrm>
          <a:prstGeom prst="roundRect">
            <a:avLst/>
          </a:prstGeom>
          <a:solidFill>
            <a:srgbClr val="131E36"/>
          </a:solidFill>
          <a:ln w="15240">
            <a:solidFill>
              <a:srgbClr val="2535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385462" y="1737360"/>
            <a:ext cx="3419856" cy="73152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4062" y="1901952"/>
            <a:ext cx="2962656" cy="1764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📄  Paperless</a:t>
            </a:r>
          </a:p>
          <a:p>
            <a:pPr>
              <a:spcBef>
                <a:spcPts val="400"/>
              </a:spcBef>
              <a:defRPr sz="1100" b="1">
                <a:solidFill>
                  <a:srgbClr val="2DD4BF"/>
                </a:solidFill>
                <a:latin typeface="Segoe UI"/>
              </a:defRPr>
            </a:pPr>
            <a:r>
              <a:t>✨ DIGITAL DOSSIER</a:t>
            </a:r>
          </a:p>
          <a:p>
            <a:pPr>
              <a:spcBef>
                <a:spcPts val="600"/>
              </a:spcBef>
              <a:defRPr sz="1250">
                <a:solidFill>
                  <a:srgbClr val="E2E8F0"/>
                </a:solidFill>
                <a:latin typeface="Segoe UI"/>
              </a:defRPr>
            </a:pPr>
            <a:r>
              <a:t>100% digital passes, vouchers &amp; records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39404" y="1737360"/>
            <a:ext cx="3419856" cy="2057400"/>
          </a:xfrm>
          <a:prstGeom prst="roundRect">
            <a:avLst/>
          </a:prstGeom>
          <a:solidFill>
            <a:srgbClr val="131E36"/>
          </a:solidFill>
          <a:ln w="15240">
            <a:solidFill>
              <a:srgbClr val="2535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039404" y="1737360"/>
            <a:ext cx="3419856" cy="73152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68004" y="1901952"/>
            <a:ext cx="2962656" cy="1764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⚡  Faster</a:t>
            </a:r>
          </a:p>
          <a:p>
            <a:pPr>
              <a:spcBef>
                <a:spcPts val="400"/>
              </a:spcBef>
              <a:defRPr sz="1100" b="1">
                <a:solidFill>
                  <a:srgbClr val="60A5FA"/>
                </a:solidFill>
                <a:latin typeface="Segoe UI"/>
              </a:defRPr>
            </a:pPr>
            <a:r>
              <a:t>✨ AUTOMATED WORKFLOW</a:t>
            </a:r>
          </a:p>
          <a:p>
            <a:pPr>
              <a:spcBef>
                <a:spcPts val="600"/>
              </a:spcBef>
              <a:defRPr sz="1250">
                <a:solidFill>
                  <a:srgbClr val="E2E8F0"/>
                </a:solidFill>
                <a:latin typeface="Segoe UI"/>
              </a:defRPr>
            </a:pPr>
            <a:r>
              <a:t>70% faster turnaround via automated rules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023360"/>
            <a:ext cx="3419856" cy="2057400"/>
          </a:xfrm>
          <a:prstGeom prst="roundRect">
            <a:avLst/>
          </a:prstGeom>
          <a:solidFill>
            <a:srgbClr val="131E36"/>
          </a:solidFill>
          <a:ln w="15240">
            <a:solidFill>
              <a:srgbClr val="2535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31520" y="4023360"/>
            <a:ext cx="3419856" cy="7315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4187952"/>
            <a:ext cx="2962656" cy="1764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👁️  Transparent</a:t>
            </a:r>
          </a:p>
          <a:p>
            <a:pPr>
              <a:spcBef>
                <a:spcPts val="400"/>
              </a:spcBef>
              <a:defRPr sz="1100" b="1">
                <a:solidFill>
                  <a:srgbClr val="38BDF8"/>
                </a:solidFill>
                <a:latin typeface="Segoe UI"/>
              </a:defRPr>
            </a:pPr>
            <a:r>
              <a:t>✨ REAL-TIME TRACKING</a:t>
            </a:r>
          </a:p>
          <a:p>
            <a:pPr>
              <a:spcBef>
                <a:spcPts val="600"/>
              </a:spcBef>
              <a:defRPr sz="1250">
                <a:solidFill>
                  <a:srgbClr val="E2E8F0"/>
                </a:solidFill>
                <a:latin typeface="Segoe UI"/>
              </a:defRPr>
            </a:pPr>
            <a:r>
              <a:t>Live 5-stage tracking for citizens &amp; admins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5462" y="4023360"/>
            <a:ext cx="3419856" cy="2057400"/>
          </a:xfrm>
          <a:prstGeom prst="roundRect">
            <a:avLst/>
          </a:prstGeom>
          <a:solidFill>
            <a:srgbClr val="131E36"/>
          </a:solidFill>
          <a:ln w="15240">
            <a:solidFill>
              <a:srgbClr val="2535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385462" y="4023360"/>
            <a:ext cx="3419856" cy="73152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14062" y="4187952"/>
            <a:ext cx="2962656" cy="1764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💰  Zero Leakage</a:t>
            </a:r>
          </a:p>
          <a:p>
            <a:pPr>
              <a:spcBef>
                <a:spcPts val="400"/>
              </a:spcBef>
              <a:defRPr sz="1100" b="1">
                <a:solidFill>
                  <a:srgbClr val="2DD4BF"/>
                </a:solidFill>
                <a:latin typeface="Segoe UI"/>
              </a:defRPr>
            </a:pPr>
            <a:r>
              <a:t>✨ DIRECT BENEFIT TRANSFER</a:t>
            </a:r>
          </a:p>
          <a:p>
            <a:pPr>
              <a:spcBef>
                <a:spcPts val="600"/>
              </a:spcBef>
              <a:defRPr sz="1250">
                <a:solidFill>
                  <a:srgbClr val="E2E8F0"/>
                </a:solidFill>
                <a:latin typeface="Segoe UI"/>
              </a:defRPr>
            </a:pPr>
            <a:r>
              <a:t>Direct treasury bank credit via PFMS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39404" y="4023360"/>
            <a:ext cx="3419856" cy="2057400"/>
          </a:xfrm>
          <a:prstGeom prst="roundRect">
            <a:avLst/>
          </a:prstGeom>
          <a:solidFill>
            <a:srgbClr val="131E36"/>
          </a:solidFill>
          <a:ln w="15240">
            <a:solidFill>
              <a:srgbClr val="2535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039404" y="4023360"/>
            <a:ext cx="3419856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68004" y="4187952"/>
            <a:ext cx="2962656" cy="1764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Segoe UI"/>
              </a:defRPr>
            </a:pPr>
            <a:r>
              <a:t>📋  Accountable</a:t>
            </a:r>
          </a:p>
          <a:p>
            <a:pPr>
              <a:spcBef>
                <a:spcPts val="400"/>
              </a:spcBef>
              <a:defRPr sz="1100" b="1">
                <a:solidFill>
                  <a:srgbClr val="F59E0B"/>
                </a:solidFill>
                <a:latin typeface="Segoe UI"/>
              </a:defRPr>
            </a:pPr>
            <a:r>
              <a:t>✨ AUDIT TRAIL</a:t>
            </a:r>
          </a:p>
          <a:p>
            <a:pPr>
              <a:spcBef>
                <a:spcPts val="600"/>
              </a:spcBef>
              <a:defRPr sz="1250">
                <a:solidFill>
                  <a:srgbClr val="E2E8F0"/>
                </a:solidFill>
                <a:latin typeface="Segoe UI"/>
              </a:defRPr>
            </a:pPr>
            <a:r>
              <a:t>Immutable logs &amp; citizen grievance redressal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75488"/>
            <a:ext cx="10728655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PROJECT SUMMARY  •  SLIDE 9 OF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Conclusion &amp; Impact</a:t>
            </a:r>
          </a:p>
          <a:p>
            <a:pPr>
              <a:spcBef>
                <a:spcPts val="2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Engineering a scalable digital backbone for equitable public subsidy distribution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1737360"/>
            <a:ext cx="9997135" cy="1371600"/>
          </a:xfrm>
          <a:prstGeom prst="roundRect">
            <a:avLst/>
          </a:prstGeom>
          <a:solidFill>
            <a:srgbClr val="1C2B4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2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DSGA = SECURE  +  TRANSPARENT  +  SCALABLE E-GOVERNANCE</a:t>
            </a:r>
          </a:p>
          <a:p>
            <a:pPr algn="ctr">
              <a:spcBef>
                <a:spcPts val="600"/>
              </a:spcBef>
              <a:defRPr sz="1300" b="1">
                <a:solidFill>
                  <a:srgbClr val="38BDF8"/>
                </a:solidFill>
                <a:latin typeface="Segoe UI"/>
              </a:defRPr>
            </a:pPr>
            <a:r>
              <a:t>Enterprise Full-Stack Engineering for Modern Digital India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3337560"/>
            <a:ext cx="4846320" cy="1143000"/>
          </a:xfrm>
          <a:prstGeom prst="roundRect">
            <a:avLst/>
          </a:prstGeom>
          <a:solidFill>
            <a:srgbClr val="131E36"/>
          </a:solidFill>
          <a:ln w="15240">
            <a:solidFill>
              <a:srgbClr val="2535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097280" y="3337560"/>
            <a:ext cx="109728" cy="114300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25880" y="3465576"/>
            <a:ext cx="4480560" cy="8869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💻 Full-Stack Engineering</a:t>
            </a:r>
          </a:p>
          <a:p>
            <a:pPr>
              <a:spcBef>
                <a:spcPts val="400"/>
              </a:spcBef>
              <a:defRPr sz="1150">
                <a:solidFill>
                  <a:srgbClr val="E2E8F0"/>
                </a:solidFill>
                <a:latin typeface="Segoe UI"/>
              </a:defRPr>
            </a:pPr>
            <a:r>
              <a:t>Spring Boot 3 + React 19 architecture with clean modularity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8095" y="3337560"/>
            <a:ext cx="4846320" cy="1143000"/>
          </a:xfrm>
          <a:prstGeom prst="roundRect">
            <a:avLst/>
          </a:prstGeom>
          <a:solidFill>
            <a:srgbClr val="131E36"/>
          </a:solidFill>
          <a:ln w="15240">
            <a:solidFill>
              <a:srgbClr val="2535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248095" y="3337560"/>
            <a:ext cx="109728" cy="114300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76695" y="3465576"/>
            <a:ext cx="4480560" cy="8869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🔒 Secure RBAC Authentication</a:t>
            </a:r>
          </a:p>
          <a:p>
            <a:pPr>
              <a:spcBef>
                <a:spcPts val="400"/>
              </a:spcBef>
              <a:defRPr sz="1150">
                <a:solidFill>
                  <a:srgbClr val="E2E8F0"/>
                </a:solidFill>
                <a:latin typeface="Segoe UI"/>
              </a:defRPr>
            </a:pPr>
            <a:r>
              <a:t>Stateless JWT token security with zero privilege leakage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4663440"/>
            <a:ext cx="4846320" cy="1143000"/>
          </a:xfrm>
          <a:prstGeom prst="roundRect">
            <a:avLst/>
          </a:prstGeom>
          <a:solidFill>
            <a:srgbClr val="131E36"/>
          </a:solidFill>
          <a:ln w="15240">
            <a:solidFill>
              <a:srgbClr val="2535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97280" y="4663440"/>
            <a:ext cx="109728" cy="114300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25880" y="4791456"/>
            <a:ext cx="4480560" cy="8869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🗄️ REST API &amp; Database</a:t>
            </a:r>
          </a:p>
          <a:p>
            <a:pPr>
              <a:spcBef>
                <a:spcPts val="400"/>
              </a:spcBef>
              <a:defRPr sz="1150">
                <a:solidFill>
                  <a:srgbClr val="E2E8F0"/>
                </a:solidFill>
                <a:latin typeface="Segoe UI"/>
              </a:defRPr>
            </a:pPr>
            <a:r>
              <a:t>Robust JPA entity design with dual MySQL &amp; H2 support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8095" y="4663440"/>
            <a:ext cx="4846320" cy="1143000"/>
          </a:xfrm>
          <a:prstGeom prst="roundRect">
            <a:avLst/>
          </a:prstGeom>
          <a:solidFill>
            <a:srgbClr val="131E36"/>
          </a:solidFill>
          <a:ln w="15240">
            <a:solidFill>
              <a:srgbClr val="2535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248095" y="4663440"/>
            <a:ext cx="109728" cy="114300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76695" y="4791456"/>
            <a:ext cx="4480560" cy="8869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👥 Citizen-Centric Governance</a:t>
            </a:r>
          </a:p>
          <a:p>
            <a:pPr>
              <a:spcBef>
                <a:spcPts val="400"/>
              </a:spcBef>
              <a:defRPr sz="1150">
                <a:solidFill>
                  <a:srgbClr val="E2E8F0"/>
                </a:solidFill>
                <a:latin typeface="Segoe UI"/>
              </a:defRPr>
            </a:pPr>
            <a:r>
              <a:t>100% paperless Direct Benefit Transfer with live audit trails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989320"/>
            <a:ext cx="999713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 i="1">
                <a:solidFill>
                  <a:srgbClr val="38BDF8"/>
                </a:solidFill>
                <a:latin typeface="Georgia"/>
              </a:defRPr>
            </a:pPr>
            <a:r>
              <a:t>“From application to disbursement — one transparent digital workflow.”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1840</Words>
  <Application>Microsoft Macintosh PowerPoint</Application>
  <PresentationFormat>Custom</PresentationFormat>
  <Paragraphs>242</Paragraphs>
  <Slides>9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/>
  <cp:keywords/>
  <dc:description>generated using python-pptx</dc:description>
  <cp:lastModifiedBy>sahana srinivasan</cp:lastModifiedBy>
  <cp:revision>3</cp:revision>
  <dcterms:created xsi:type="dcterms:W3CDTF">2013-01-27T09:14:16Z</dcterms:created>
  <dcterms:modified xsi:type="dcterms:W3CDTF">2026-09-27T15:42:54Z</dcterms:modified>
  <cp:category/>
</cp:coreProperties>
</file>